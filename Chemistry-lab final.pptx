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17"/>
  </p:notesMasterIdLst>
  <p:handoutMasterIdLst>
    <p:handoutMasterId r:id="rId18"/>
  </p:handoutMasterIdLst>
  <p:sldIdLst>
    <p:sldId id="266" r:id="rId5"/>
    <p:sldId id="264" r:id="rId6"/>
    <p:sldId id="259" r:id="rId7"/>
    <p:sldId id="268" r:id="rId8"/>
    <p:sldId id="274" r:id="rId9"/>
    <p:sldId id="269" r:id="rId10"/>
    <p:sldId id="270" r:id="rId11"/>
    <p:sldId id="272" r:id="rId12"/>
    <p:sldId id="271" r:id="rId13"/>
    <p:sldId id="275" r:id="rId14"/>
    <p:sldId id="276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80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48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1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54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1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13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3C5-3462-460A-9DB1-89CF80D2C872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384A-9188-434B-AD7F-1C9C5F25DCD6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0E60-E8CE-4E78-AA06-D80B79895832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4A7D-341F-474E-B273-7647F48DFA8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34EB-CB56-4719-8E5E-39F457C411A5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7C09-CC5C-4B4A-97E5-E937548F1D2A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D1E7-0BDF-4EAC-ABA4-F1CFCDACDBB3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B16EF-88EC-4EA2-9677-DFD4BB58AD0A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F821-F48B-4CE8-BD3F-8872106538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9F69-5B9E-41A9-B87D-4BE9EBCEB721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47D2-E49E-4F60-87D7-373E8BB7C0DF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66A0-F2CC-4050-82B9-B89717B3BEF1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347E-93CD-4BC3-921E-0B429CA20A3B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AAAE5-35EE-40A2-875D-32C39E09256F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04FBA-E0CF-4351-BEAE-C91AE097C7B9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FC60-E930-429E-9DCE-422E2872A987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5802-5F96-418B-9E23-2758CA7AE6A9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B6C4-E4F6-472B-B5D2-002DEA017BBB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FBC556F-51A6-41E0-827B-913C6DBFBFB6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tri Dish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457" y="825888"/>
            <a:ext cx="6019817" cy="106547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 American international university-</a:t>
            </a:r>
            <a:r>
              <a:rPr lang="en-US" sz="24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bangladesh</a:t>
            </a:r>
            <a:endParaRPr lang="en-US" sz="24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443548" y="2276930"/>
            <a:ext cx="8689976" cy="2509213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Chemistry-lab</a:t>
            </a:r>
            <a:br>
              <a:rPr lang="en-US" sz="3600" dirty="0" smtClean="0">
                <a:latin typeface="Arial Black" panose="020B0A04020102020204" pitchFamily="34" charset="0"/>
              </a:rPr>
            </a:br>
            <a:r>
              <a:rPr lang="en-US" sz="3100" dirty="0" smtClean="0">
                <a:latin typeface="Arial Black" panose="020B0A04020102020204" pitchFamily="34" charset="0"/>
              </a:rPr>
              <a:t>section: m</a:t>
            </a:r>
            <a:r>
              <a:rPr lang="en-US" sz="2400" dirty="0" smtClean="0">
                <a:latin typeface="Arial Black" panose="020B0A04020102020204" pitchFamily="34" charset="0"/>
              </a:rPr>
              <a:t/>
            </a:r>
            <a:br>
              <a:rPr lang="en-US" sz="2400" dirty="0" smtClean="0">
                <a:latin typeface="Arial Black" panose="020B0A04020102020204" pitchFamily="34" charset="0"/>
              </a:rPr>
            </a:br>
            <a:r>
              <a:rPr lang="en-US" sz="2400" dirty="0" smtClean="0">
                <a:latin typeface="Arial Black" panose="020B0A04020102020204" pitchFamily="34" charset="0"/>
              </a:rPr>
              <a:t/>
            </a:r>
            <a:br>
              <a:rPr lang="en-US" sz="2400" dirty="0" smtClean="0">
                <a:latin typeface="Arial Black" panose="020B0A04020102020204" pitchFamily="34" charset="0"/>
              </a:rPr>
            </a:br>
            <a:r>
              <a:rPr lang="en-US" sz="2400" dirty="0" smtClean="0">
                <a:latin typeface="Arial Black" panose="020B0A04020102020204" pitchFamily="34" charset="0"/>
              </a:rPr>
              <a:t/>
            </a:r>
            <a:br>
              <a:rPr lang="en-US" sz="2400" dirty="0" smtClean="0">
                <a:latin typeface="Arial Black" panose="020B0A04020102020204" pitchFamily="34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21F85AB8-7AD2-4F3E-A75D-910A16D61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3745" y="480102"/>
            <a:ext cx="1645920" cy="161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05235" y="3265349"/>
            <a:ext cx="7132320" cy="80854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DIRECTED BY: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677795"/>
              </p:ext>
            </p:extLst>
          </p:nvPr>
        </p:nvGraphicFramePr>
        <p:xfrm>
          <a:off x="112542" y="4459458"/>
          <a:ext cx="7125014" cy="220862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022186">
                  <a:extLst>
                    <a:ext uri="{9D8B030D-6E8A-4147-A177-3AD203B41FA5}">
                      <a16:colId xmlns:a16="http://schemas.microsoft.com/office/drawing/2014/main" val="96013001"/>
                    </a:ext>
                  </a:extLst>
                </a:gridCol>
                <a:gridCol w="2102828">
                  <a:extLst>
                    <a:ext uri="{9D8B030D-6E8A-4147-A177-3AD203B41FA5}">
                      <a16:colId xmlns:a16="http://schemas.microsoft.com/office/drawing/2014/main" val="2327549056"/>
                    </a:ext>
                  </a:extLst>
                </a:gridCol>
              </a:tblGrid>
              <a:tr h="4969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 Black" panose="020B0A04020102020204" pitchFamily="34" charset="0"/>
                        </a:rPr>
                        <a:t>PRESENTED BY:</a:t>
                      </a:r>
                      <a:r>
                        <a:rPr lang="en-US" sz="2400" baseline="0" dirty="0" smtClean="0">
                          <a:latin typeface="Arial Black" panose="020B0A04020102020204" pitchFamily="34" charset="0"/>
                        </a:rPr>
                        <a:t> GROUP-7</a:t>
                      </a:r>
                      <a:endParaRPr lang="en-US" sz="2400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8069"/>
                  </a:ext>
                </a:extLst>
              </a:tr>
              <a:tr h="42792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 Black" panose="020B0A04020102020204" pitchFamily="34" charset="0"/>
                        </a:rPr>
                        <a:t>NAME 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 Black" panose="020B0A04020102020204" pitchFamily="34" charset="0"/>
                        </a:rPr>
                        <a:t>ID</a:t>
                      </a:r>
                      <a:endParaRPr lang="en-US" sz="20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6598"/>
                  </a:ext>
                </a:extLst>
              </a:tr>
              <a:tr h="4279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Arial Black" panose="020B0A04020102020204" pitchFamily="34" charset="0"/>
                        </a:rPr>
                        <a:t>SAYEDA</a:t>
                      </a:r>
                      <a:r>
                        <a:rPr lang="en-US" sz="1800" baseline="0" dirty="0" smtClean="0">
                          <a:latin typeface="Arial Black" panose="020B0A04020102020204" pitchFamily="34" charset="0"/>
                        </a:rPr>
                        <a:t> TANJILA AHMED (APURBA)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latin typeface="Arial Black" panose="020B0A04020102020204" pitchFamily="34" charset="0"/>
                        </a:rPr>
                        <a:t>********</a:t>
                      </a:r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370702"/>
                  </a:ext>
                </a:extLst>
              </a:tr>
              <a:tr h="427927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990130"/>
                  </a:ext>
                </a:extLst>
              </a:tr>
              <a:tr h="427927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22729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73040" y="6485522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1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12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Science Lab">
            <a:extLst>
              <a:ext uri="{FF2B5EF4-FFF2-40B4-BE49-F238E27FC236}">
                <a16:creationId xmlns:a16="http://schemas.microsoft.com/office/drawing/2014/main" id="{7E185DA8-778E-49D9-863D-7DB5660424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54" r="25902"/>
          <a:stretch/>
        </p:blipFill>
        <p:spPr>
          <a:xfrm>
            <a:off x="52940" y="1648996"/>
            <a:ext cx="3985486" cy="5194490"/>
          </a:xfrm>
          <a:prstGeom prst="roundRect">
            <a:avLst>
              <a:gd name="adj" fmla="val 298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51" y="-311632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sz="2400" u="sng" dirty="0" smtClean="0">
                <a:latin typeface="Arial Black" panose="020B0A04020102020204" pitchFamily="34" charset="0"/>
              </a:rPr>
              <a:t>EXPERIMENT- 6</a:t>
            </a:r>
            <a:endParaRPr lang="en-US" sz="2400" u="sng" dirty="0"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76832" y="723430"/>
            <a:ext cx="1011516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latin typeface="Arial Black" panose="020B0A04020102020204" pitchFamily="34" charset="0"/>
              </a:rPr>
              <a:t>Estimation of copper (Cu) contained </a:t>
            </a:r>
            <a:r>
              <a:rPr lang="en-US" sz="2400" dirty="0">
                <a:latin typeface="Arial Black" panose="020B0A04020102020204" pitchFamily="34" charset="0"/>
              </a:rPr>
              <a:t>in a supplied solution of copper salt by </a:t>
            </a:r>
            <a:r>
              <a:rPr lang="en-US" sz="2400" dirty="0" err="1">
                <a:latin typeface="Arial Black" panose="020B0A04020102020204" pitchFamily="34" charset="0"/>
              </a:rPr>
              <a:t>iodometric</a:t>
            </a:r>
            <a:r>
              <a:rPr lang="en-US" sz="2400" dirty="0">
                <a:latin typeface="Arial Black" panose="020B0A04020102020204" pitchFamily="34" charset="0"/>
              </a:rPr>
              <a:t> 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526" y="2249838"/>
            <a:ext cx="795440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The </a:t>
            </a:r>
            <a:r>
              <a:rPr lang="en-US" dirty="0">
                <a:latin typeface="Arial Black" panose="020B0A04020102020204" pitchFamily="34" charset="0"/>
              </a:rPr>
              <a:t>amount of copper ions in a supplied solution of copper salt will be measured by </a:t>
            </a:r>
            <a:r>
              <a:rPr lang="en-US" dirty="0" err="1">
                <a:latin typeface="Arial Black" panose="020B0A04020102020204" pitchFamily="34" charset="0"/>
              </a:rPr>
              <a:t>iodometric</a:t>
            </a:r>
            <a:r>
              <a:rPr lang="en-US" dirty="0">
                <a:latin typeface="Arial Black" panose="020B0A04020102020204" pitchFamily="34" charset="0"/>
              </a:rPr>
              <a:t> oxidation-reduction </a:t>
            </a:r>
            <a:r>
              <a:rPr lang="en-US" dirty="0" smtClean="0">
                <a:latin typeface="Arial Black" panose="020B0A04020102020204" pitchFamily="34" charset="0"/>
              </a:rPr>
              <a:t>titration. K</a:t>
            </a:r>
            <a:r>
              <a:rPr lang="en-US" baseline="-25000" dirty="0" smtClean="0">
                <a:latin typeface="Arial Black" panose="020B0A04020102020204" pitchFamily="34" charset="0"/>
              </a:rPr>
              <a:t>2</a:t>
            </a:r>
            <a:r>
              <a:rPr lang="en-US" dirty="0" smtClean="0">
                <a:latin typeface="Arial Black" panose="020B0A04020102020204" pitchFamily="34" charset="0"/>
              </a:rPr>
              <a:t>Cr</a:t>
            </a:r>
            <a:r>
              <a:rPr lang="en-US" baseline="-25000" dirty="0" smtClean="0">
                <a:latin typeface="Arial Black" panose="020B0A04020102020204" pitchFamily="34" charset="0"/>
              </a:rPr>
              <a:t>2</a:t>
            </a:r>
            <a:r>
              <a:rPr lang="en-US" dirty="0" smtClean="0">
                <a:latin typeface="Arial Black" panose="020B0A04020102020204" pitchFamily="34" charset="0"/>
              </a:rPr>
              <a:t>O</a:t>
            </a:r>
            <a:r>
              <a:rPr lang="en-US" baseline="-25000" dirty="0" smtClean="0">
                <a:latin typeface="Arial Black" panose="020B0A04020102020204" pitchFamily="34" charset="0"/>
              </a:rPr>
              <a:t>7 </a:t>
            </a:r>
            <a:r>
              <a:rPr lang="en-US" dirty="0">
                <a:latin typeface="Arial Black" panose="020B0A04020102020204" pitchFamily="34" charset="0"/>
              </a:rPr>
              <a:t>is a primary standard substance, an oxidizing </a:t>
            </a:r>
            <a:r>
              <a:rPr lang="en-US" dirty="0" smtClean="0">
                <a:latin typeface="Arial Black" panose="020B0A04020102020204" pitchFamily="34" charset="0"/>
              </a:rPr>
              <a:t>agent and Na</a:t>
            </a:r>
            <a:r>
              <a:rPr lang="en-US" baseline="-25000" dirty="0" smtClean="0">
                <a:latin typeface="Arial Black" panose="020B0A04020102020204" pitchFamily="34" charset="0"/>
              </a:rPr>
              <a:t>2</a:t>
            </a:r>
            <a:r>
              <a:rPr lang="en-US" dirty="0" smtClean="0">
                <a:latin typeface="Arial Black" panose="020B0A04020102020204" pitchFamily="34" charset="0"/>
              </a:rPr>
              <a:t>S</a:t>
            </a:r>
            <a:r>
              <a:rPr lang="en-US" baseline="-25000" dirty="0" smtClean="0">
                <a:latin typeface="Arial Black" panose="020B0A04020102020204" pitchFamily="34" charset="0"/>
              </a:rPr>
              <a:t>2</a:t>
            </a:r>
            <a:r>
              <a:rPr lang="en-US" dirty="0" smtClean="0">
                <a:latin typeface="Arial Black" panose="020B0A04020102020204" pitchFamily="34" charset="0"/>
              </a:rPr>
              <a:t>O</a:t>
            </a:r>
            <a:r>
              <a:rPr lang="en-US" baseline="-25000" dirty="0" smtClean="0">
                <a:latin typeface="Arial Black" panose="020B0A04020102020204" pitchFamily="34" charset="0"/>
              </a:rPr>
              <a:t>3</a:t>
            </a:r>
            <a:r>
              <a:rPr lang="en-US" dirty="0" smtClean="0">
                <a:latin typeface="Arial Black" panose="020B0A04020102020204" pitchFamily="34" charset="0"/>
              </a:rPr>
              <a:t>.5H</a:t>
            </a:r>
            <a:r>
              <a:rPr lang="en-US" baseline="-25000" dirty="0" smtClean="0">
                <a:latin typeface="Arial Black" panose="020B0A04020102020204" pitchFamily="34" charset="0"/>
              </a:rPr>
              <a:t>2</a:t>
            </a:r>
            <a:r>
              <a:rPr lang="en-US" dirty="0" smtClean="0">
                <a:latin typeface="Arial Black" panose="020B0A04020102020204" pitchFamily="34" charset="0"/>
              </a:rPr>
              <a:t>O </a:t>
            </a:r>
            <a:r>
              <a:rPr lang="en-US" dirty="0">
                <a:latin typeface="Arial Black" panose="020B0A04020102020204" pitchFamily="34" charset="0"/>
              </a:rPr>
              <a:t>is a secondary standard substance, a reducing </a:t>
            </a:r>
            <a:r>
              <a:rPr lang="en-US" dirty="0" smtClean="0">
                <a:latin typeface="Arial Black" panose="020B0A04020102020204" pitchFamily="34" charset="0"/>
              </a:rPr>
              <a:t>agent.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 txBox="1">
            <a:spLocks/>
          </p:cNvSpPr>
          <p:nvPr/>
        </p:nvSpPr>
        <p:spPr>
          <a:xfrm>
            <a:off x="6436801" y="1151597"/>
            <a:ext cx="3352128" cy="1573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u="sng" dirty="0" smtClean="0">
                <a:latin typeface="Arial Black" panose="020B0A04020102020204" pitchFamily="34" charset="0"/>
              </a:rPr>
              <a:t>INTRODUCTION</a:t>
            </a:r>
            <a:endParaRPr lang="en-US" sz="2400" u="sng" dirty="0"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0997" y="4310717"/>
            <a:ext cx="7957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The </a:t>
            </a:r>
            <a:r>
              <a:rPr lang="en-US" dirty="0">
                <a:latin typeface="Arial Black" panose="020B0A04020102020204" pitchFamily="34" charset="0"/>
              </a:rPr>
              <a:t>balanced reactions are as follows:</a:t>
            </a:r>
          </a:p>
          <a:p>
            <a:pPr lvl="0"/>
            <a:r>
              <a:rPr lang="en-US" dirty="0">
                <a:latin typeface="Arial Black" panose="020B0A04020102020204" pitchFamily="34" charset="0"/>
              </a:rPr>
              <a:t>2CuSO</a:t>
            </a:r>
            <a:r>
              <a:rPr lang="en-US" baseline="-25000" dirty="0">
                <a:latin typeface="Arial Black" panose="020B0A04020102020204" pitchFamily="34" charset="0"/>
              </a:rPr>
              <a:t>4</a:t>
            </a:r>
            <a:r>
              <a:rPr lang="en-US" dirty="0">
                <a:latin typeface="Arial Black" panose="020B0A04020102020204" pitchFamily="34" charset="0"/>
              </a:rPr>
              <a:t> + 4KI = 2K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SO</a:t>
            </a:r>
            <a:r>
              <a:rPr lang="en-US" baseline="-25000" dirty="0">
                <a:latin typeface="Arial Black" panose="020B0A04020102020204" pitchFamily="34" charset="0"/>
              </a:rPr>
              <a:t>4</a:t>
            </a:r>
            <a:r>
              <a:rPr lang="en-US" dirty="0">
                <a:latin typeface="Arial Black" panose="020B0A04020102020204" pitchFamily="34" charset="0"/>
              </a:rPr>
              <a:t> + 2CuI </a:t>
            </a:r>
            <a:r>
              <a:rPr lang="en-US" dirty="0">
                <a:latin typeface="Arial Black" panose="020B0A04020102020204" pitchFamily="34" charset="0"/>
                <a:sym typeface="Symbol" panose="05050102010706020507" pitchFamily="18" charset="2"/>
              </a:rPr>
              <a:t></a:t>
            </a:r>
            <a:r>
              <a:rPr lang="en-US" dirty="0">
                <a:latin typeface="Arial Black" panose="020B0A04020102020204" pitchFamily="34" charset="0"/>
              </a:rPr>
              <a:t> + I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endParaRPr lang="en-US" dirty="0">
              <a:latin typeface="Arial Black" panose="020B0A04020102020204" pitchFamily="34" charset="0"/>
            </a:endParaRPr>
          </a:p>
          <a:p>
            <a:pPr lvl="0"/>
            <a:r>
              <a:rPr lang="en-US" dirty="0">
                <a:latin typeface="Arial Black" panose="020B0A04020102020204" pitchFamily="34" charset="0"/>
              </a:rPr>
              <a:t>2Na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S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en-US" baseline="-25000" dirty="0">
                <a:latin typeface="Arial Black" panose="020B0A04020102020204" pitchFamily="34" charset="0"/>
              </a:rPr>
              <a:t>3</a:t>
            </a:r>
            <a:r>
              <a:rPr lang="en-US" dirty="0">
                <a:latin typeface="Arial Black" panose="020B0A04020102020204" pitchFamily="34" charset="0"/>
              </a:rPr>
              <a:t> + I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 = Na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S</a:t>
            </a:r>
            <a:r>
              <a:rPr lang="en-US" baseline="-25000" dirty="0">
                <a:latin typeface="Arial Black" panose="020B0A04020102020204" pitchFamily="34" charset="0"/>
              </a:rPr>
              <a:t>4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en-US" baseline="-25000" dirty="0">
                <a:latin typeface="Arial Black" panose="020B0A04020102020204" pitchFamily="34" charset="0"/>
              </a:rPr>
              <a:t>6</a:t>
            </a:r>
            <a:r>
              <a:rPr lang="en-US" baseline="30000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+ 2NaI</a:t>
            </a:r>
          </a:p>
          <a:p>
            <a:r>
              <a:rPr lang="en-US" b="1" dirty="0" smtClean="0">
                <a:latin typeface="Arial Black" panose="020B0A04020102020204" pitchFamily="34" charset="0"/>
              </a:rPr>
              <a:t>Redox </a:t>
            </a:r>
            <a:r>
              <a:rPr lang="en-US" b="1" dirty="0">
                <a:latin typeface="Arial Black" panose="020B0A04020102020204" pitchFamily="34" charset="0"/>
              </a:rPr>
              <a:t>Half Reactions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>
                <a:latin typeface="Arial Black" panose="020B0A04020102020204" pitchFamily="34" charset="0"/>
              </a:rPr>
              <a:t>           For 1: (a) 2I</a:t>
            </a:r>
            <a:r>
              <a:rPr lang="en-US" baseline="30000" dirty="0">
                <a:latin typeface="Arial Black" panose="020B0A04020102020204" pitchFamily="34" charset="0"/>
              </a:rPr>
              <a:t>− </a:t>
            </a:r>
            <a:r>
              <a:rPr lang="en-US" baseline="-25000" dirty="0">
                <a:latin typeface="Arial Black" panose="020B0A04020102020204" pitchFamily="34" charset="0"/>
              </a:rPr>
              <a:t>(aq.) </a:t>
            </a:r>
            <a:r>
              <a:rPr lang="en-US" dirty="0">
                <a:latin typeface="Arial Black" panose="020B0A04020102020204" pitchFamily="34" charset="0"/>
                <a:sym typeface="Symbol" panose="05050102010706020507" pitchFamily="18" charset="2"/>
              </a:rPr>
              <a:t></a:t>
            </a:r>
            <a:r>
              <a:rPr lang="en-US" dirty="0">
                <a:latin typeface="Arial Black" panose="020B0A04020102020204" pitchFamily="34" charset="0"/>
              </a:rPr>
              <a:t> I</a:t>
            </a:r>
            <a:r>
              <a:rPr lang="en-US" baseline="-25000" dirty="0">
                <a:latin typeface="Arial Black" panose="020B0A04020102020204" pitchFamily="34" charset="0"/>
              </a:rPr>
              <a:t>2 (aq.) </a:t>
            </a:r>
            <a:r>
              <a:rPr lang="en-US" dirty="0">
                <a:latin typeface="Arial Black" panose="020B0A04020102020204" pitchFamily="34" charset="0"/>
              </a:rPr>
              <a:t>+ 2e </a:t>
            </a:r>
            <a:r>
              <a:rPr lang="en-US" i="1" dirty="0">
                <a:latin typeface="Arial Black" panose="020B0A04020102020204" pitchFamily="34" charset="0"/>
              </a:rPr>
              <a:t>(</a:t>
            </a:r>
            <a:r>
              <a:rPr lang="en-US" i="1" dirty="0" err="1">
                <a:latin typeface="Arial Black" panose="020B0A04020102020204" pitchFamily="34" charset="0"/>
              </a:rPr>
              <a:t>oxid</a:t>
            </a:r>
            <a:r>
              <a:rPr lang="en-US" i="1" dirty="0">
                <a:latin typeface="Arial Black" panose="020B0A04020102020204" pitchFamily="34" charset="0"/>
              </a:rPr>
              <a:t>. half reaction)</a:t>
            </a:r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>
                <a:latin typeface="Arial Black" panose="020B0A04020102020204" pitchFamily="34" charset="0"/>
              </a:rPr>
              <a:t>                      (b) 2Cu</a:t>
            </a:r>
            <a:r>
              <a:rPr lang="en-US" baseline="30000" dirty="0">
                <a:latin typeface="Arial Black" panose="020B0A04020102020204" pitchFamily="34" charset="0"/>
              </a:rPr>
              <a:t>2+ </a:t>
            </a:r>
            <a:r>
              <a:rPr lang="en-US" baseline="-25000" dirty="0">
                <a:latin typeface="Arial Black" panose="020B0A04020102020204" pitchFamily="34" charset="0"/>
              </a:rPr>
              <a:t>(aq.)</a:t>
            </a:r>
            <a:r>
              <a:rPr lang="en-US" dirty="0">
                <a:latin typeface="Arial Black" panose="020B0A04020102020204" pitchFamily="34" charset="0"/>
              </a:rPr>
              <a:t> + 2e </a:t>
            </a:r>
            <a:r>
              <a:rPr lang="en-US" dirty="0">
                <a:latin typeface="Arial Black" panose="020B0A04020102020204" pitchFamily="34" charset="0"/>
                <a:sym typeface="Symbol" panose="05050102010706020507" pitchFamily="18" charset="2"/>
              </a:rPr>
              <a:t></a:t>
            </a:r>
            <a:r>
              <a:rPr lang="en-US" dirty="0">
                <a:latin typeface="Arial Black" panose="020B0A04020102020204" pitchFamily="34" charset="0"/>
              </a:rPr>
              <a:t> 2Cu</a:t>
            </a:r>
            <a:r>
              <a:rPr lang="en-US" baseline="30000" dirty="0">
                <a:latin typeface="Arial Black" panose="020B0A04020102020204" pitchFamily="34" charset="0"/>
              </a:rPr>
              <a:t>+ </a:t>
            </a:r>
            <a:r>
              <a:rPr lang="en-US" baseline="-25000" dirty="0">
                <a:latin typeface="Arial Black" panose="020B0A04020102020204" pitchFamily="34" charset="0"/>
              </a:rPr>
              <a:t>(aq.)</a:t>
            </a:r>
            <a:r>
              <a:rPr lang="en-US" dirty="0">
                <a:latin typeface="Arial Black" panose="020B0A04020102020204" pitchFamily="34" charset="0"/>
              </a:rPr>
              <a:t> (</a:t>
            </a:r>
            <a:r>
              <a:rPr lang="en-US" i="1" dirty="0">
                <a:latin typeface="Arial Black" panose="020B0A04020102020204" pitchFamily="34" charset="0"/>
              </a:rPr>
              <a:t>red. half reaction)</a:t>
            </a:r>
          </a:p>
          <a:p>
            <a:r>
              <a:rPr lang="en-US" dirty="0"/>
              <a:t>             </a:t>
            </a:r>
            <a:r>
              <a:rPr lang="en-US" dirty="0">
                <a:latin typeface="Arial Black" panose="020B0A04020102020204" pitchFamily="34" charset="0"/>
              </a:rPr>
              <a:t> For 2: (a) 2S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en-US" baseline="-25000" dirty="0">
                <a:latin typeface="Arial Black" panose="020B0A04020102020204" pitchFamily="34" charset="0"/>
              </a:rPr>
              <a:t>3</a:t>
            </a:r>
            <a:r>
              <a:rPr lang="en-US" baseline="30000" dirty="0">
                <a:latin typeface="Arial Black" panose="020B0A04020102020204" pitchFamily="34" charset="0"/>
              </a:rPr>
              <a:t>2-</a:t>
            </a:r>
            <a:r>
              <a:rPr lang="en-US" baseline="-25000" dirty="0">
                <a:latin typeface="Arial Black" panose="020B0A04020102020204" pitchFamily="34" charset="0"/>
              </a:rPr>
              <a:t>(aq.)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sym typeface="Symbol" panose="05050102010706020507" pitchFamily="18" charset="2"/>
              </a:rPr>
              <a:t></a:t>
            </a:r>
            <a:r>
              <a:rPr lang="en-US" dirty="0">
                <a:latin typeface="Arial Black" panose="020B0A04020102020204" pitchFamily="34" charset="0"/>
              </a:rPr>
              <a:t> S</a:t>
            </a:r>
            <a:r>
              <a:rPr lang="en-US" baseline="-25000" dirty="0">
                <a:latin typeface="Arial Black" panose="020B0A04020102020204" pitchFamily="34" charset="0"/>
              </a:rPr>
              <a:t>4</a:t>
            </a:r>
            <a:r>
              <a:rPr lang="en-US" dirty="0">
                <a:latin typeface="Arial Black" panose="020B0A04020102020204" pitchFamily="34" charset="0"/>
              </a:rPr>
              <a:t>O</a:t>
            </a:r>
            <a:r>
              <a:rPr lang="en-US" baseline="-25000" dirty="0">
                <a:latin typeface="Arial Black" panose="020B0A04020102020204" pitchFamily="34" charset="0"/>
              </a:rPr>
              <a:t>6</a:t>
            </a:r>
            <a:r>
              <a:rPr lang="en-US" baseline="30000" dirty="0">
                <a:latin typeface="Arial Black" panose="020B0A04020102020204" pitchFamily="34" charset="0"/>
              </a:rPr>
              <a:t>2-</a:t>
            </a:r>
            <a:r>
              <a:rPr lang="en-US" dirty="0">
                <a:latin typeface="Arial Black" panose="020B0A04020102020204" pitchFamily="34" charset="0"/>
              </a:rPr>
              <a:t> + 2e (</a:t>
            </a:r>
            <a:r>
              <a:rPr lang="en-US" i="1" dirty="0" err="1">
                <a:latin typeface="Arial Black" panose="020B0A04020102020204" pitchFamily="34" charset="0"/>
              </a:rPr>
              <a:t>oxid</a:t>
            </a:r>
            <a:r>
              <a:rPr lang="en-US" i="1" dirty="0">
                <a:latin typeface="Arial Black" panose="020B0A04020102020204" pitchFamily="34" charset="0"/>
              </a:rPr>
              <a:t>. half reaction</a:t>
            </a:r>
            <a:r>
              <a:rPr lang="en-US" dirty="0">
                <a:latin typeface="Arial Black" panose="020B0A04020102020204" pitchFamily="34" charset="0"/>
              </a:rPr>
              <a:t>)</a:t>
            </a:r>
          </a:p>
          <a:p>
            <a:r>
              <a:rPr lang="en-US" dirty="0">
                <a:latin typeface="Arial Black" panose="020B0A04020102020204" pitchFamily="34" charset="0"/>
              </a:rPr>
              <a:t>                       (b) I</a:t>
            </a:r>
            <a:r>
              <a:rPr lang="en-US" baseline="-25000" dirty="0">
                <a:latin typeface="Arial Black" panose="020B0A04020102020204" pitchFamily="34" charset="0"/>
              </a:rPr>
              <a:t>2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baseline="-25000" dirty="0">
                <a:latin typeface="Arial Black" panose="020B0A04020102020204" pitchFamily="34" charset="0"/>
              </a:rPr>
              <a:t>(aq.)</a:t>
            </a:r>
            <a:r>
              <a:rPr lang="en-US" dirty="0">
                <a:latin typeface="Arial Black" panose="020B0A04020102020204" pitchFamily="34" charset="0"/>
              </a:rPr>
              <a:t> + 2e  </a:t>
            </a:r>
            <a:r>
              <a:rPr lang="en-US" dirty="0">
                <a:latin typeface="Arial Black" panose="020B0A04020102020204" pitchFamily="34" charset="0"/>
                <a:sym typeface="Symbol" panose="05050102010706020507" pitchFamily="18" charset="2"/>
              </a:rPr>
              <a:t></a:t>
            </a:r>
            <a:r>
              <a:rPr lang="en-US" dirty="0">
                <a:latin typeface="Arial Black" panose="020B0A04020102020204" pitchFamily="34" charset="0"/>
              </a:rPr>
              <a:t>  2I</a:t>
            </a:r>
            <a:r>
              <a:rPr lang="en-US" baseline="30000" dirty="0">
                <a:latin typeface="Arial Black" panose="020B0A04020102020204" pitchFamily="34" charset="0"/>
              </a:rPr>
              <a:t>-</a:t>
            </a:r>
            <a:r>
              <a:rPr lang="en-US" baseline="-25000" dirty="0">
                <a:latin typeface="Arial Black" panose="020B0A04020102020204" pitchFamily="34" charset="0"/>
              </a:rPr>
              <a:t>(aq.)</a:t>
            </a:r>
            <a:r>
              <a:rPr lang="en-US" dirty="0">
                <a:latin typeface="Arial Black" panose="020B0A04020102020204" pitchFamily="34" charset="0"/>
              </a:rPr>
              <a:t> (</a:t>
            </a:r>
            <a:r>
              <a:rPr lang="en-US" i="1" dirty="0">
                <a:latin typeface="Arial Black" panose="020B0A04020102020204" pitchFamily="34" charset="0"/>
              </a:rPr>
              <a:t>red. half reaction</a:t>
            </a:r>
            <a:r>
              <a:rPr lang="en-US" dirty="0" smtClean="0">
                <a:latin typeface="Arial Black" panose="020B0A04020102020204" pitchFamily="34" charset="0"/>
              </a:rPr>
              <a:t>)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 txBox="1">
            <a:spLocks/>
          </p:cNvSpPr>
          <p:nvPr/>
        </p:nvSpPr>
        <p:spPr>
          <a:xfrm>
            <a:off x="6917775" y="3251427"/>
            <a:ext cx="3352128" cy="1573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u="sng" dirty="0" smtClean="0">
                <a:latin typeface="Arial Black" panose="020B0A04020102020204" pitchFamily="34" charset="0"/>
              </a:rPr>
              <a:t>REACTION</a:t>
            </a:r>
            <a:endParaRPr lang="en-US" sz="2400" u="sng" dirty="0"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304713" y="6373395"/>
            <a:ext cx="764215" cy="365125"/>
          </a:xfrm>
        </p:spPr>
        <p:txBody>
          <a:bodyPr/>
          <a:lstStyle/>
          <a:p>
            <a:fld id="{D57F1E4F-1CFF-5643-939E-217C01CDF565}" type="slidenum">
              <a:rPr lang="en-US" sz="1200" smtClean="0">
                <a:latin typeface="Arial Black" panose="020B0A04020102020204" pitchFamily="34" charset="0"/>
              </a:rPr>
              <a:pPr/>
              <a:t>2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/>
      <p:bldP spid="12" grpId="0"/>
      <p:bldP spid="6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630259-2E99-42C6-925A-ED71BD9ED2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7ECD05-B4E0-4A46-AE36-17B3B1B208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0643E1-7ABA-4C1E-A734-A26C5D7041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4" y="1973198"/>
            <a:ext cx="10326312" cy="4202519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Burette (50mL),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pipette 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(10mL),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conical 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flask (250mL),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volumetric 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flask (100mL),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watch 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glass,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pipette 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filler,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dropper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, </a:t>
            </a:r>
            <a:endParaRPr lang="en-US" dirty="0" smtClean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stand 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and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clamp.</a:t>
            </a:r>
            <a:endParaRPr lang="en-US" sz="2400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163413" y="1162954"/>
            <a:ext cx="224048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latin typeface="Arial Black" panose="020B0A04020102020204" pitchFamily="34" charset="0"/>
                <a:ea typeface="Times New Roman" panose="02020603050405020304" pitchFamily="18" charset="0"/>
              </a:rPr>
              <a:t>APPARATUS</a:t>
            </a:r>
            <a:endParaRPr lang="en-US" sz="2400" u="sng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0" name="Content Placeholder 5" descr="Formula">
            <a:extLst>
              <a:ext uri="{FF2B5EF4-FFF2-40B4-BE49-F238E27FC236}">
                <a16:creationId xmlns:a16="http://schemas.microsoft.com/office/drawing/2014/main" id="{29B78601-F415-4A48-AB86-2F6B81FA913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5610918" y="0"/>
            <a:ext cx="4024741" cy="68579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366535" y="6492865"/>
            <a:ext cx="764215" cy="365125"/>
          </a:xfrm>
        </p:spPr>
        <p:txBody>
          <a:bodyPr/>
          <a:lstStyle/>
          <a:p>
            <a:fld id="{D57F1E4F-1CFF-5643-939E-217C01CDF565}" type="slidenum">
              <a:rPr lang="en-US" sz="1200" smtClean="0">
                <a:latin typeface="Arial Black" panose="020B0A04020102020204" pitchFamily="34" charset="0"/>
              </a:rPr>
              <a:pPr/>
              <a:t>3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77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49010" y="1599511"/>
            <a:ext cx="4116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u="sng" dirty="0">
                <a:latin typeface="Arial Black" panose="020B0A04020102020204" pitchFamily="34" charset="0"/>
                <a:ea typeface="Times New Roman" panose="02020603050405020304" pitchFamily="18" charset="0"/>
              </a:rPr>
              <a:t>REQUIRED CHEMICALS</a:t>
            </a:r>
            <a:endParaRPr lang="en-US" sz="2400" u="sng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010" y="2639640"/>
            <a:ext cx="59133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12% </a:t>
            </a:r>
            <a:r>
              <a:rPr lang="en-US" b="1" dirty="0" smtClean="0">
                <a:latin typeface="Arial Black" panose="020B0A04020102020204" pitchFamily="34" charset="0"/>
              </a:rPr>
              <a:t>KI 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Potassium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iodide)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solution</a:t>
            </a:r>
            <a:r>
              <a:rPr lang="en-US" b="1" dirty="0" smtClean="0">
                <a:latin typeface="Arial Black" panose="020B0A04020102020204" pitchFamily="34" charset="0"/>
              </a:rPr>
              <a:t>,</a:t>
            </a:r>
            <a:r>
              <a:rPr lang="en-US" b="1" dirty="0">
                <a:latin typeface="Arial Black" panose="020B0A04020102020204" pitchFamily="34" charset="0"/>
              </a:rPr>
              <a:t>		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Copper </a:t>
            </a:r>
            <a:r>
              <a:rPr lang="en-US" b="1" dirty="0">
                <a:latin typeface="Arial Black" panose="020B0A04020102020204" pitchFamily="34" charset="0"/>
              </a:rPr>
              <a:t>salt solution	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NaHCO</a:t>
            </a:r>
            <a:r>
              <a:rPr lang="en-US" b="1" baseline="-25000" dirty="0" smtClean="0">
                <a:latin typeface="Arial Black" panose="020B0A04020102020204" pitchFamily="34" charset="0"/>
              </a:rPr>
              <a:t>3 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Sodium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bicarbonate) </a:t>
            </a:r>
            <a:r>
              <a:rPr lang="en-US" b="1" dirty="0" smtClean="0">
                <a:latin typeface="Arial Black" panose="020B0A04020102020204" pitchFamily="34" charset="0"/>
              </a:rPr>
              <a:t>solid</a:t>
            </a:r>
            <a:r>
              <a:rPr lang="en-US" b="1" dirty="0">
                <a:latin typeface="Arial Black" panose="020B0A04020102020204" pitchFamily="34" charset="0"/>
              </a:rPr>
              <a:t>,                   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6M NH</a:t>
            </a:r>
            <a:r>
              <a:rPr lang="en-US" b="1" baseline="-25000" dirty="0" smtClean="0">
                <a:latin typeface="Arial Black" panose="020B0A04020102020204" pitchFamily="34" charset="0"/>
              </a:rPr>
              <a:t>4</a:t>
            </a:r>
            <a:r>
              <a:rPr lang="en-US" b="1" dirty="0" smtClean="0">
                <a:latin typeface="Arial Black" panose="020B0A04020102020204" pitchFamily="34" charset="0"/>
              </a:rPr>
              <a:t>OH 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Ammonium hydroxide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)</a:t>
            </a:r>
            <a:r>
              <a:rPr lang="en-US" b="1" dirty="0">
                <a:latin typeface="Arial Black" panose="020B0A04020102020204" pitchFamily="34" charset="0"/>
              </a:rPr>
              <a:t>		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Conc</a:t>
            </a:r>
            <a:r>
              <a:rPr lang="en-US" b="1" dirty="0">
                <a:latin typeface="Arial Black" panose="020B0A04020102020204" pitchFamily="34" charset="0"/>
              </a:rPr>
              <a:t>. </a:t>
            </a:r>
            <a:r>
              <a:rPr lang="en-US" b="1" dirty="0" err="1" smtClean="0">
                <a:latin typeface="Arial Black" panose="020B0A04020102020204" pitchFamily="34" charset="0"/>
              </a:rPr>
              <a:t>HCl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Hydrochloric</a:t>
            </a:r>
            <a:r>
              <a:rPr lang="en-US" b="1" dirty="0" smtClean="0">
                <a:latin typeface="Arial Black" panose="020B0A04020102020204" pitchFamily="34" charset="0"/>
              </a:rPr>
              <a:t> acid),             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Conc</a:t>
            </a:r>
            <a:r>
              <a:rPr lang="en-US" b="1" dirty="0">
                <a:latin typeface="Arial Black" panose="020B0A04020102020204" pitchFamily="34" charset="0"/>
              </a:rPr>
              <a:t>. </a:t>
            </a:r>
            <a:r>
              <a:rPr lang="en-US" b="1" dirty="0" smtClean="0">
                <a:latin typeface="Arial Black" panose="020B0A04020102020204" pitchFamily="34" charset="0"/>
              </a:rPr>
              <a:t>CH</a:t>
            </a:r>
            <a:r>
              <a:rPr lang="en-US" b="1" baseline="-25000" dirty="0" smtClean="0">
                <a:latin typeface="Arial Black" panose="020B0A04020102020204" pitchFamily="34" charset="0"/>
              </a:rPr>
              <a:t>3</a:t>
            </a:r>
            <a:r>
              <a:rPr lang="en-US" b="1" dirty="0" smtClean="0">
                <a:latin typeface="Arial Black" panose="020B0A04020102020204" pitchFamily="34" charset="0"/>
              </a:rPr>
              <a:t>COOH 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Acetic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acid)</a:t>
            </a:r>
            <a:endParaRPr lang="en-US" b="1" dirty="0">
              <a:latin typeface="Arial Black" panose="020B0A040201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Standard </a:t>
            </a:r>
            <a:r>
              <a:rPr lang="en-US" b="1" dirty="0" smtClean="0">
                <a:latin typeface="Arial Black" panose="020B0A04020102020204" pitchFamily="34" charset="0"/>
              </a:rPr>
              <a:t>K</a:t>
            </a:r>
            <a:r>
              <a:rPr lang="en-US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b="1" dirty="0" smtClean="0">
                <a:latin typeface="Arial Black" panose="020B0A04020102020204" pitchFamily="34" charset="0"/>
              </a:rPr>
              <a:t>Cr</a:t>
            </a:r>
            <a:r>
              <a:rPr lang="en-US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b="1" dirty="0" smtClean="0">
                <a:latin typeface="Arial Black" panose="020B0A04020102020204" pitchFamily="34" charset="0"/>
              </a:rPr>
              <a:t>O</a:t>
            </a:r>
            <a:r>
              <a:rPr lang="en-US" b="1" baseline="-25000" dirty="0" smtClean="0">
                <a:latin typeface="Arial Black" panose="020B0A04020102020204" pitchFamily="34" charset="0"/>
              </a:rPr>
              <a:t>7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Potassium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dichromate) </a:t>
            </a:r>
            <a:r>
              <a:rPr lang="en-US" b="1" dirty="0" smtClean="0">
                <a:latin typeface="Arial Black" panose="020B0A04020102020204" pitchFamily="34" charset="0"/>
              </a:rPr>
              <a:t>solution</a:t>
            </a:r>
            <a:r>
              <a:rPr lang="en-US" b="1" dirty="0">
                <a:latin typeface="Arial Black" panose="020B0A04020102020204" pitchFamily="34" charset="0"/>
              </a:rPr>
              <a:t>,        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10</a:t>
            </a:r>
            <a:r>
              <a:rPr lang="en-US" b="1" dirty="0">
                <a:latin typeface="Arial Black" panose="020B0A04020102020204" pitchFamily="34" charset="0"/>
              </a:rPr>
              <a:t>% </a:t>
            </a:r>
            <a:r>
              <a:rPr lang="en-US" b="1" dirty="0" smtClean="0">
                <a:latin typeface="Arial Black" panose="020B0A04020102020204" pitchFamily="34" charset="0"/>
              </a:rPr>
              <a:t>NH</a:t>
            </a:r>
            <a:r>
              <a:rPr lang="en-US" b="1" baseline="-25000" dirty="0" smtClean="0">
                <a:latin typeface="Arial Black" panose="020B0A04020102020204" pitchFamily="34" charset="0"/>
              </a:rPr>
              <a:t>4</a:t>
            </a:r>
            <a:r>
              <a:rPr lang="en-US" b="1" dirty="0" smtClean="0">
                <a:latin typeface="Arial Black" panose="020B0A04020102020204" pitchFamily="34" charset="0"/>
              </a:rPr>
              <a:t>SCN 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Ammonium 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thiocyanate) 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solution,	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Na</a:t>
            </a:r>
            <a:r>
              <a:rPr lang="en-US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b="1" dirty="0" smtClean="0">
                <a:latin typeface="Arial Black" panose="020B0A04020102020204" pitchFamily="34" charset="0"/>
              </a:rPr>
              <a:t>S</a:t>
            </a:r>
            <a:r>
              <a:rPr lang="en-US" b="1" baseline="-25000" dirty="0" smtClean="0">
                <a:latin typeface="Arial Black" panose="020B0A04020102020204" pitchFamily="34" charset="0"/>
              </a:rPr>
              <a:t>2</a:t>
            </a:r>
            <a:r>
              <a:rPr lang="en-US" b="1" dirty="0" smtClean="0">
                <a:latin typeface="Arial Black" panose="020B0A04020102020204" pitchFamily="34" charset="0"/>
              </a:rPr>
              <a:t>O</a:t>
            </a:r>
            <a:r>
              <a:rPr lang="en-US" b="1" baseline="-25000" dirty="0" smtClean="0">
                <a:latin typeface="Arial Black" panose="020B0A04020102020204" pitchFamily="34" charset="0"/>
              </a:rPr>
              <a:t>3 </a:t>
            </a:r>
            <a:r>
              <a:rPr lang="en-US" b="1" dirty="0" smtClean="0">
                <a:latin typeface="Arial Black" panose="020B0A04020102020204" pitchFamily="34" charset="0"/>
              </a:rPr>
              <a:t>(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</a:rPr>
              <a:t>Sodium </a:t>
            </a:r>
            <a:r>
              <a:rPr lang="en-US" dirty="0" err="1" smtClean="0">
                <a:latin typeface="Arial Black" panose="020B0A04020102020204" pitchFamily="34" charset="0"/>
                <a:ea typeface="Times New Roman" panose="02020603050405020304" pitchFamily="18" charset="0"/>
              </a:rPr>
              <a:t>thiosulphate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) s</a:t>
            </a:r>
            <a:r>
              <a:rPr lang="en-US" b="1" dirty="0" smtClean="0">
                <a:latin typeface="Arial Black" panose="020B0A04020102020204" pitchFamily="34" charset="0"/>
              </a:rPr>
              <a:t>olution</a:t>
            </a:r>
            <a:r>
              <a:rPr lang="en-US" b="1" dirty="0">
                <a:latin typeface="Arial Black" panose="020B0A04020102020204" pitchFamily="34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 Black" panose="020B0A04020102020204" pitchFamily="34" charset="0"/>
              </a:rPr>
              <a:t>Starch solution</a:t>
            </a:r>
            <a:endParaRPr lang="en-US" b="1" dirty="0">
              <a:latin typeface="Arial Black" panose="020B0A04020102020204" pitchFamily="34" charset="0"/>
            </a:endParaRPr>
          </a:p>
        </p:txBody>
      </p:sp>
      <p:pic>
        <p:nvPicPr>
          <p:cNvPr id="11" name="Picture 4" descr="Chemistry Lab Wallpapers - Top Free Chemistry Lab Background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54" y="0"/>
            <a:ext cx="4397829" cy="686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315870" y="6492875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4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65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255" y="-1"/>
            <a:ext cx="9506857" cy="6197600"/>
          </a:xfrm>
          <a:prstGeom prst="rect">
            <a:avLst/>
          </a:prstGeom>
        </p:spPr>
      </p:pic>
      <p:pic>
        <p:nvPicPr>
          <p:cNvPr id="6" name="Picture 6" descr="Scientists Lab Equipment stock photos and images | Premium AI-generated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285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628571" y="6183086"/>
            <a:ext cx="8679541" cy="674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 u="sng" dirty="0">
                <a:solidFill>
                  <a:schemeClr val="tx1"/>
                </a:solidFill>
                <a:latin typeface="Arial Black" panose="020B0A04020102020204" pitchFamily="34" charset="0"/>
              </a:rPr>
              <a:t>Figure: </a:t>
            </a:r>
            <a:r>
              <a:rPr lang="en-US" sz="1400" b="1" i="1" dirty="0">
                <a:solidFill>
                  <a:schemeClr val="tx1"/>
                </a:solidFill>
                <a:latin typeface="Arial Black" panose="020B0A04020102020204" pitchFamily="34" charset="0"/>
              </a:rPr>
              <a:t>Estimation of copper (Cu) contained in a supplied solution of copper salt by </a:t>
            </a:r>
            <a:r>
              <a:rPr lang="en-US" sz="1400" b="1" i="1" dirty="0" err="1">
                <a:solidFill>
                  <a:schemeClr val="tx1"/>
                </a:solidFill>
                <a:latin typeface="Arial Black" panose="020B0A04020102020204" pitchFamily="34" charset="0"/>
              </a:rPr>
              <a:t>iodometric</a:t>
            </a:r>
            <a:r>
              <a:rPr lang="en-US" sz="1400" b="1" i="1" dirty="0">
                <a:solidFill>
                  <a:schemeClr val="tx1"/>
                </a:solidFill>
                <a:latin typeface="Arial Black" panose="020B0A04020102020204" pitchFamily="34" charset="0"/>
              </a:rPr>
              <a:t> method</a:t>
            </a:r>
          </a:p>
          <a:p>
            <a:pPr algn="ctr"/>
            <a:r>
              <a:rPr lang="en-US" sz="1250" i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Reference: (Modified version) </a:t>
            </a:r>
            <a:r>
              <a:rPr lang="en-US" sz="1250" i="1" u="sng" dirty="0">
                <a:solidFill>
                  <a:schemeClr val="tx1"/>
                </a:solidFill>
                <a:latin typeface="Arial Black" panose="020B0A04020102020204" pitchFamily="34" charset="0"/>
              </a:rPr>
              <a:t>created using </a:t>
            </a:r>
            <a:r>
              <a:rPr lang="en-US" sz="1250" i="1" u="sng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ChatGPT</a:t>
            </a:r>
            <a:r>
              <a:rPr lang="en-US" sz="1250" i="1" u="sng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(OpenAI,2025</a:t>
            </a:r>
            <a:r>
              <a:rPr lang="en-US" sz="1250" i="1" u="sng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5084" y="4059979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1828" y="1349828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655" y="940190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5969" y="1215179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600" y="420914"/>
            <a:ext cx="29028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4456" y="4244645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31871" y="1309522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510483" y="3795485"/>
            <a:ext cx="406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422743" y="4862730"/>
            <a:ext cx="725714" cy="6805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Repeated 3 times.</a:t>
            </a:r>
            <a:endParaRPr lang="en-US" dirty="0"/>
          </a:p>
        </p:txBody>
      </p:sp>
      <p:sp>
        <p:nvSpPr>
          <p:cNvPr id="20" name="Curved Right Arrow 19"/>
          <p:cNvSpPr/>
          <p:nvPr/>
        </p:nvSpPr>
        <p:spPr>
          <a:xfrm rot="16200000">
            <a:off x="11124590" y="5043099"/>
            <a:ext cx="523741" cy="1524001"/>
          </a:xfrm>
          <a:prstGeom prst="curvedRightArrow">
            <a:avLst>
              <a:gd name="adj1" fmla="val 25000"/>
              <a:gd name="adj2" fmla="val 86775"/>
              <a:gd name="adj3" fmla="val 25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76911" y="6512972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5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29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929776"/>
              </p:ext>
            </p:extLst>
          </p:nvPr>
        </p:nvGraphicFramePr>
        <p:xfrm>
          <a:off x="262340" y="1635769"/>
          <a:ext cx="11540453" cy="21062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4641">
                  <a:extLst>
                    <a:ext uri="{9D8B030D-6E8A-4147-A177-3AD203B41FA5}">
                      <a16:colId xmlns:a16="http://schemas.microsoft.com/office/drawing/2014/main" val="2770899977"/>
                    </a:ext>
                  </a:extLst>
                </a:gridCol>
                <a:gridCol w="1417248">
                  <a:extLst>
                    <a:ext uri="{9D8B030D-6E8A-4147-A177-3AD203B41FA5}">
                      <a16:colId xmlns:a16="http://schemas.microsoft.com/office/drawing/2014/main" val="2014498986"/>
                    </a:ext>
                  </a:extLst>
                </a:gridCol>
                <a:gridCol w="2024641">
                  <a:extLst>
                    <a:ext uri="{9D8B030D-6E8A-4147-A177-3AD203B41FA5}">
                      <a16:colId xmlns:a16="http://schemas.microsoft.com/office/drawing/2014/main" val="1930517791"/>
                    </a:ext>
                  </a:extLst>
                </a:gridCol>
                <a:gridCol w="2024641">
                  <a:extLst>
                    <a:ext uri="{9D8B030D-6E8A-4147-A177-3AD203B41FA5}">
                      <a16:colId xmlns:a16="http://schemas.microsoft.com/office/drawing/2014/main" val="3137641575"/>
                    </a:ext>
                  </a:extLst>
                </a:gridCol>
                <a:gridCol w="2024641">
                  <a:extLst>
                    <a:ext uri="{9D8B030D-6E8A-4147-A177-3AD203B41FA5}">
                      <a16:colId xmlns:a16="http://schemas.microsoft.com/office/drawing/2014/main" val="1916180500"/>
                    </a:ext>
                  </a:extLst>
                </a:gridCol>
                <a:gridCol w="2024641">
                  <a:extLst>
                    <a:ext uri="{9D8B030D-6E8A-4147-A177-3AD203B41FA5}">
                      <a16:colId xmlns:a16="http://schemas.microsoft.com/office/drawing/2014/main" val="59458372"/>
                    </a:ext>
                  </a:extLst>
                </a:gridCol>
              </a:tblGrid>
              <a:tr h="795667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No. of reading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Vol. of K</a:t>
                      </a:r>
                      <a:r>
                        <a:rPr lang="en-US" sz="1800" baseline="-250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Cr</a:t>
                      </a:r>
                      <a:r>
                        <a:rPr lang="en-US" sz="1800" baseline="-250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O</a:t>
                      </a:r>
                      <a:r>
                        <a:rPr lang="en-US" sz="1800" baseline="-25000" dirty="0">
                          <a:effectLst/>
                          <a:latin typeface="Arial Black" panose="020B0A04020102020204" pitchFamily="34" charset="0"/>
                        </a:rPr>
                        <a:t>7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(in mL)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Vol. of Na</a:t>
                      </a:r>
                      <a:r>
                        <a:rPr lang="en-US" sz="1800" baseline="-250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S</a:t>
                      </a:r>
                      <a:r>
                        <a:rPr lang="en-US" sz="1800" baseline="-250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O</a:t>
                      </a:r>
                      <a:r>
                        <a:rPr lang="en-US" sz="1800" baseline="-25000" dirty="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 (burette reading) (in mL)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Mean (in mL)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9138792"/>
                  </a:ext>
                </a:extLst>
              </a:tr>
              <a:tr h="5149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Initial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Final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Difference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65803"/>
                  </a:ext>
                </a:extLst>
              </a:tr>
              <a:tr h="3978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10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0</a:t>
                      </a: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10.9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10.9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10.3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1374466"/>
                  </a:ext>
                </a:extLst>
              </a:tr>
              <a:tr h="3978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10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10.9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20.6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9.7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951511"/>
                  </a:ext>
                </a:extLst>
              </a:tr>
            </a:tbl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262" y="981120"/>
            <a:ext cx="121547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Table-1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: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Standardization of supplied Na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O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3</a:t>
            </a:r>
            <a:r>
              <a:rPr kumimoji="0" lang="en-US" alt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solution against standard K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Cr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O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7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solution by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            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oxidation-reduction titration.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944915"/>
              </p:ext>
            </p:extLst>
          </p:nvPr>
        </p:nvGraphicFramePr>
        <p:xfrm>
          <a:off x="262343" y="4396654"/>
          <a:ext cx="11554519" cy="217354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718891">
                  <a:extLst>
                    <a:ext uri="{9D8B030D-6E8A-4147-A177-3AD203B41FA5}">
                      <a16:colId xmlns:a16="http://schemas.microsoft.com/office/drawing/2014/main" val="305535635"/>
                    </a:ext>
                  </a:extLst>
                </a:gridCol>
                <a:gridCol w="2475202">
                  <a:extLst>
                    <a:ext uri="{9D8B030D-6E8A-4147-A177-3AD203B41FA5}">
                      <a16:colId xmlns:a16="http://schemas.microsoft.com/office/drawing/2014/main" val="3968751955"/>
                    </a:ext>
                  </a:extLst>
                </a:gridCol>
                <a:gridCol w="1718891">
                  <a:extLst>
                    <a:ext uri="{9D8B030D-6E8A-4147-A177-3AD203B41FA5}">
                      <a16:colId xmlns:a16="http://schemas.microsoft.com/office/drawing/2014/main" val="1095528235"/>
                    </a:ext>
                  </a:extLst>
                </a:gridCol>
                <a:gridCol w="1718891">
                  <a:extLst>
                    <a:ext uri="{9D8B030D-6E8A-4147-A177-3AD203B41FA5}">
                      <a16:colId xmlns:a16="http://schemas.microsoft.com/office/drawing/2014/main" val="1826396747"/>
                    </a:ext>
                  </a:extLst>
                </a:gridCol>
                <a:gridCol w="1718891">
                  <a:extLst>
                    <a:ext uri="{9D8B030D-6E8A-4147-A177-3AD203B41FA5}">
                      <a16:colId xmlns:a16="http://schemas.microsoft.com/office/drawing/2014/main" val="917557715"/>
                    </a:ext>
                  </a:extLst>
                </a:gridCol>
                <a:gridCol w="2203753">
                  <a:extLst>
                    <a:ext uri="{9D8B030D-6E8A-4147-A177-3AD203B41FA5}">
                      <a16:colId xmlns:a16="http://schemas.microsoft.com/office/drawing/2014/main" val="3270020105"/>
                    </a:ext>
                  </a:extLst>
                </a:gridCol>
              </a:tblGrid>
              <a:tr h="724514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No. of reading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Vol. of Copper salt solution (in mL)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Vol. of Na</a:t>
                      </a:r>
                      <a:r>
                        <a:rPr lang="en-US" sz="1800" baseline="-250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S</a:t>
                      </a:r>
                      <a:r>
                        <a:rPr lang="en-US" sz="1800" baseline="-250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O</a:t>
                      </a:r>
                      <a:r>
                        <a:rPr lang="en-US" sz="1800" baseline="-2500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(burette reading) (in mL)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Mean (in mL) (V)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8882142"/>
                  </a:ext>
                </a:extLst>
              </a:tr>
              <a:tr h="3622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Initial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Final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Difference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0838"/>
                  </a:ext>
                </a:extLst>
              </a:tr>
              <a:tr h="3622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US" sz="180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10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0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9.1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9.1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8.73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872178"/>
                  </a:ext>
                </a:extLst>
              </a:tr>
              <a:tr h="3622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10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9.1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17.7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8.6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807488"/>
                  </a:ext>
                </a:extLst>
              </a:tr>
              <a:tr h="3622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 Black" panose="020B0A04020102020204" pitchFamily="34" charset="0"/>
                        </a:rPr>
                        <a:t>10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17.7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26.2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Arial Black" panose="020B0A04020102020204" pitchFamily="34" charset="0"/>
                        </a:rPr>
                        <a:t>8.5</a:t>
                      </a:r>
                      <a:endParaRPr lang="en-US" sz="1800" dirty="0">
                        <a:effectLst/>
                        <a:latin typeface="Arial Black" panose="020B0A040201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41838"/>
                  </a:ext>
                </a:extLst>
              </a:tr>
            </a:tbl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96804" y="3729492"/>
            <a:ext cx="1217796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Table-2: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Determination of the amount of copper in a supplied solution of blue vitriol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latin typeface="Arial Black" panose="020B0A040201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i="1" dirty="0" smtClean="0">
                <a:latin typeface="Arial Black" panose="020B0A04020102020204" pitchFamily="34" charset="0"/>
                <a:ea typeface="Times New Roman" panose="02020603050405020304" pitchFamily="18" charset="0"/>
              </a:rPr>
              <a:t>           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iodometric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 method</a:t>
            </a:r>
            <a:r>
              <a:rPr lang="en-US" altLang="en-US" i="1" dirty="0">
                <a:latin typeface="Arial Black" panose="020B0A040201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85486" y="215416"/>
            <a:ext cx="4058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u="sng" dirty="0">
                <a:latin typeface="Arial Black" panose="020B0A04020102020204" pitchFamily="34" charset="0"/>
                <a:ea typeface="Times New Roman" panose="02020603050405020304" pitchFamily="18" charset="0"/>
              </a:rPr>
              <a:t>EXPERIMENTAL DATA: </a:t>
            </a:r>
            <a:endParaRPr lang="en-US" sz="2400" u="sng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331602" y="6492875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6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1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09710" y="1062001"/>
            <a:ext cx="33105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Strength of K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</a:t>
            </a:r>
            <a:r>
              <a:rPr kumimoji="0" lang="en-US" altLang="en-US" b="0" i="1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solution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273659"/>
              </p:ext>
            </p:extLst>
          </p:nvPr>
        </p:nvGraphicFramePr>
        <p:xfrm>
          <a:off x="4072595" y="963525"/>
          <a:ext cx="2778372" cy="626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Equation" r:id="rId3" imgW="1676160" imgH="393480" progId="Equation.3">
                  <p:embed/>
                </p:oleObj>
              </mc:Choice>
              <mc:Fallback>
                <p:oleObj name="Equation" r:id="rId3" imgW="1676160" imgH="3934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595" y="963525"/>
                        <a:ext cx="2778372" cy="6261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311181" y="1081820"/>
            <a:ext cx="20313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=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       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9710" y="1491175"/>
            <a:ext cx="104288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en-US" i="1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altLang="en-US" i="1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Strength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of supplied Na</a:t>
            </a:r>
            <a:r>
              <a:rPr lang="en-US" altLang="en-US" i="1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lang="en-US" altLang="en-US" i="1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O</a:t>
            </a:r>
            <a:r>
              <a:rPr lang="en-US" altLang="en-US" i="1" baseline="-30000" dirty="0">
                <a:latin typeface="Arial" panose="020B0604020202020204" pitchFamily="34" charset="0"/>
                <a:ea typeface="Times New Roman" panose="02020603050405020304" pitchFamily="18" charset="0"/>
              </a:rPr>
              <a:t>3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solution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(S):      </a:t>
            </a:r>
            <a:r>
              <a:rPr lang="en-US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en-US" altLang="en-US" baseline="-30000" dirty="0" err="1">
                <a:latin typeface="Arial" panose="020B0604020202020204" pitchFamily="34" charset="0"/>
                <a:ea typeface="Times New Roman" panose="02020603050405020304" pitchFamily="18" charset="0"/>
              </a:rPr>
              <a:t>thio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x  </a:t>
            </a:r>
            <a:r>
              <a:rPr lang="en-US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en-US" altLang="en-US" baseline="-30000" dirty="0" err="1">
                <a:latin typeface="Arial" panose="020B0604020202020204" pitchFamily="34" charset="0"/>
                <a:ea typeface="Times New Roman" panose="02020603050405020304" pitchFamily="18" charset="0"/>
              </a:rPr>
              <a:t>thio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	=   </a:t>
            </a:r>
            <a:r>
              <a:rPr lang="en-US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V</a:t>
            </a:r>
            <a:r>
              <a:rPr lang="en-US" altLang="en-US" baseline="-30000" dirty="0" err="1">
                <a:latin typeface="Arial" panose="020B0604020202020204" pitchFamily="34" charset="0"/>
                <a:ea typeface="Times New Roman" panose="02020603050405020304" pitchFamily="18" charset="0"/>
              </a:rPr>
              <a:t>dichromate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  x  </a:t>
            </a:r>
            <a:r>
              <a:rPr lang="en-US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en-US" altLang="en-US" baseline="-30000" dirty="0" err="1">
                <a:latin typeface="Arial" panose="020B0604020202020204" pitchFamily="34" charset="0"/>
                <a:ea typeface="Times New Roman" panose="02020603050405020304" pitchFamily="18" charset="0"/>
              </a:rPr>
              <a:t>dichromate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9117" y="2045174"/>
            <a:ext cx="110900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or, </a:t>
            </a:r>
            <a:r>
              <a:rPr lang="en-US" altLang="en-US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lang="en-US" altLang="en-US" baseline="-30000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thio</a:t>
            </a:r>
            <a:r>
              <a:rPr lang="en-US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 = </a:t>
            </a:r>
          </a:p>
          <a:p>
            <a:pPr algn="just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CuSO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I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2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ml 1N Na</a:t>
            </a:r>
            <a:r>
              <a:rPr lang="en-US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baseline="-25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  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0.06354 gm of Cu</a:t>
            </a:r>
            <a:r>
              <a:rPr lang="en-US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2+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algn="just"/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Amount of copper ions in 10 mL of copper salt </a:t>
            </a:r>
            <a:r>
              <a:rPr lang="en-US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solution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0.06354 × V × S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gm </a:t>
            </a:r>
          </a:p>
          <a:p>
            <a:pPr algn="just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           =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0.06354 ×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8.73× 0.099 gm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           = 0.054 gm.</a:t>
            </a:r>
          </a:p>
          <a:p>
            <a:pPr algn="just"/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Amount of copper ions in 500 mL of copper salt </a:t>
            </a:r>
            <a:r>
              <a:rPr lang="en-US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solution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0.06354 × V × S × 50 gm </a:t>
            </a:r>
            <a:endParaRPr lang="en-US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             =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0.06354 × 8.73×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0.099 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× 50 gm </a:t>
            </a:r>
          </a:p>
          <a:p>
            <a:pPr algn="just"/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                                                      = 2.70 gm.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US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Observe 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value of Cu</a:t>
            </a:r>
            <a:r>
              <a:rPr lang="en-US" i="1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2+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(in 500mL solution</a:t>
            </a:r>
            <a:r>
              <a:rPr lang="en-US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2.70 gm.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algn="just"/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Known value of Cu</a:t>
            </a:r>
            <a:r>
              <a:rPr lang="en-US" i="1" baseline="30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2+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(in 500mL solution)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2.543 gm.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91887" y="184835"/>
            <a:ext cx="3064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latin typeface="Arial Black" panose="020B0A04020102020204" pitchFamily="34" charset="0"/>
              </a:rPr>
              <a:t>CALCULATIONS:</a:t>
            </a:r>
            <a:r>
              <a:rPr lang="en-US" sz="2400" u="sng" dirty="0">
                <a:latin typeface="Arial Black" panose="020B0A04020102020204" pitchFamily="34" charset="0"/>
              </a:rPr>
              <a:t>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610369"/>
              </p:ext>
            </p:extLst>
          </p:nvPr>
        </p:nvGraphicFramePr>
        <p:xfrm>
          <a:off x="7656380" y="947402"/>
          <a:ext cx="176847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Equation" r:id="rId5" imgW="1066680" imgH="393480" progId="Equation.3">
                  <p:embed/>
                </p:oleObj>
              </mc:Choice>
              <mc:Fallback>
                <p:oleObj name="Equation" r:id="rId5" imgW="1066680" imgH="39348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6380" y="947402"/>
                        <a:ext cx="1768475" cy="627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9375204" y="1075879"/>
            <a:ext cx="9306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sz="1600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621545"/>
              </p:ext>
            </p:extLst>
          </p:nvPr>
        </p:nvGraphicFramePr>
        <p:xfrm>
          <a:off x="6850967" y="2188306"/>
          <a:ext cx="1957387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Equation" r:id="rId7" imgW="1180800" imgH="393480" progId="Equation.3">
                  <p:embed/>
                </p:oleObj>
              </mc:Choice>
              <mc:Fallback>
                <p:oleObj name="Equation" r:id="rId7" imgW="1180800" imgH="39348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967" y="2188306"/>
                        <a:ext cx="1957387" cy="627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8808354" y="2322246"/>
            <a:ext cx="9306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462" y="1259670"/>
            <a:ext cx="2402736" cy="3754984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38559" y="6492875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7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3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90211" y="373722"/>
            <a:ext cx="445622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PERCENTAGE OF ERROR:</a:t>
            </a:r>
            <a:endParaRPr kumimoji="0" lang="en-US" altLang="en-US" sz="24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99940" y="5219435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b="1" u="sng" dirty="0">
                <a:latin typeface="Arial Black" panose="020B0A04020102020204" pitchFamily="34" charset="0"/>
                <a:ea typeface="Times New Roman" panose="02020603050405020304" pitchFamily="18" charset="0"/>
              </a:rPr>
              <a:t>RESULTS</a:t>
            </a:r>
            <a:r>
              <a:rPr lang="en-US" b="1" u="sng" dirty="0">
                <a:latin typeface="Arial Black" panose="020B0A04020102020204" pitchFamily="34" charset="0"/>
                <a:ea typeface="Times New Roman" panose="02020603050405020304" pitchFamily="18" charset="0"/>
              </a:rPr>
              <a:t>:</a:t>
            </a:r>
            <a:endParaRPr lang="en-US" u="sng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just"/>
            <a:endParaRPr lang="en-US" u="sng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45079" y="5773433"/>
            <a:ext cx="914648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i="1" dirty="0">
                <a:latin typeface="Arial Black" panose="020B0A040201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Amount of copper ions in 500 mL of copper salt solution</a:t>
            </a:r>
            <a:r>
              <a:rPr lang="en-US" dirty="0">
                <a:latin typeface="Arial Black" panose="020B0A040201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dirty="0" smtClean="0">
                <a:latin typeface="Arial Black" panose="020B0A040201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2.70 gm</a:t>
            </a:r>
            <a:endParaRPr lang="en-US" u="sng" dirty="0"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3334" y="989797"/>
                <a:ext cx="5759686" cy="38958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1" dirty="0" smtClean="0">
                    <a:latin typeface="Arial Black" panose="020B0A04020102020204" pitchFamily="34" charset="0"/>
                  </a:rPr>
                  <a:t> </a:t>
                </a:r>
              </a:p>
              <a:p>
                <a:pPr algn="ctr"/>
                <a:r>
                  <a:rPr lang="en-US" sz="2800" b="1" dirty="0">
                    <a:latin typeface="Arial Black" panose="020B0A040201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-US" sz="28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𝐊𝐧𝐨𝐰𝐧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𝐯𝐚𝐥𝐮𝐞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𝐎𝐛𝐬𝐞𝐫𝐯𝐞𝐝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𝐯𝐚𝐥𝐮𝐞</m:t>
                        </m:r>
                      </m:num>
                      <m:den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𝐊𝐧𝐨𝐰𝐧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𝐯𝐚𝐥𝐮𝐞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800" b="1" i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28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𝟓𝟒𝟑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𝟕𝟎</m:t>
                              </m:r>
                            </m:num>
                            <m:den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𝟓𝟒𝟑</m:t>
                              </m:r>
                            </m:den>
                          </m:f>
                        </m:e>
                      </m:d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800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2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8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= 6.17%</a:t>
                </a:r>
                <a:endParaRPr lang="en-US" sz="2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1" dirty="0" smtClean="0">
                  <a:latin typeface="+mj-lt"/>
                </a:endParaRPr>
              </a:p>
              <a:p>
                <a:endParaRPr lang="en-US" sz="1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334" y="989797"/>
                <a:ext cx="5759686" cy="3895810"/>
              </a:xfrm>
              <a:prstGeom prst="rect">
                <a:avLst/>
              </a:prstGeom>
              <a:blipFill>
                <a:blip r:embed="rId3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95940" y="6492875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8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87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 txBox="1">
            <a:spLocks/>
          </p:cNvSpPr>
          <p:nvPr/>
        </p:nvSpPr>
        <p:spPr>
          <a:xfrm>
            <a:off x="957942" y="217714"/>
            <a:ext cx="10377715" cy="5660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u="sng" dirty="0" smtClean="0">
                <a:latin typeface="Arial Black" panose="020B0A04020102020204" pitchFamily="34" charset="0"/>
              </a:rPr>
              <a:t>DISCUSSIONS</a:t>
            </a:r>
            <a:endParaRPr lang="en-US" sz="2400" u="sng" dirty="0">
              <a:latin typeface="Arial Black" panose="020B0A04020102020204" pitchFamily="34" charset="0"/>
            </a:endParaRPr>
          </a:p>
        </p:txBody>
      </p:sp>
      <p:pic>
        <p:nvPicPr>
          <p:cNvPr id="8198" name="Picture 6" descr="illustration of chemistry lab safety precautions with no human figures, including safety goggles, gloves, lab coat, no eating or drinking, careful handling of chemicals, and using fume hoo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55" y="1045031"/>
            <a:ext cx="5181601" cy="442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Errors in Chemical Analysis: Determinate and Indeterminate Errors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24"/>
          <a:stretch/>
        </p:blipFill>
        <p:spPr bwMode="auto">
          <a:xfrm>
            <a:off x="6154056" y="928915"/>
            <a:ext cx="5181600" cy="45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154056" y="1045031"/>
            <a:ext cx="5181600" cy="108857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i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POSSIBLE ERRORS</a:t>
            </a:r>
            <a:endParaRPr lang="en-US" sz="3600" i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7142" y="5733145"/>
            <a:ext cx="10493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 Black" panose="020B0A04020102020204" pitchFamily="34" charset="0"/>
              </a:rPr>
              <a:t>In this experiment, the percentage of error obtained was 6.17%, which may be occurred due to lack of precautions or possible errors. The precautions taken for this experiment and possible errors that could have been occurred are as follows:- 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335656" y="6460277"/>
            <a:ext cx="764215" cy="365125"/>
          </a:xfrm>
        </p:spPr>
        <p:txBody>
          <a:bodyPr/>
          <a:lstStyle/>
          <a:p>
            <a:fld id="{D57F1E4F-1CFF-5643-939E-217C01CDF565}" type="slidenum">
              <a:rPr lang="en-US" sz="1200" smtClean="0">
                <a:latin typeface="Arial Black" panose="020B0A04020102020204" pitchFamily="34" charset="0"/>
              </a:rPr>
              <a:pPr/>
              <a:t>9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54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0915" y="2204000"/>
            <a:ext cx="7199085" cy="39703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burette was checked for air bubbles in the nozzle before starting the titration to ensure correct volume delivery.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flask was gently swirled continuously during titration to ensure uniform mixing of reactants.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glassware such as burette, pipette, and conical flask were properly cleaned with distilled water before use to avoid wrong volume.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sodium </a:t>
            </a:r>
            <a:r>
              <a:rPr lang="en-US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thiosulphate</a:t>
            </a: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solution was protected from air and light as it can decompose on exposure, which may affect its strength.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titration was carried out slowly near the end point to ensure accurate detection of the color change.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96230" y="1587144"/>
            <a:ext cx="10697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u="sng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PRECAUTIONS TAKEN:</a:t>
            </a:r>
            <a:endParaRPr lang="en-US" i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27785" y="6492875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10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95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chemistry lab background genarative AI Stock Illustration | Adobe 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6"/>
          <a:stretch/>
        </p:blipFill>
        <p:spPr bwMode="auto">
          <a:xfrm>
            <a:off x="14512" y="0"/>
            <a:ext cx="42962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Chemistry Lab In Dark Space With A Blue And Purple Liquid Background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80"/>
          <a:stretch/>
        </p:blipFill>
        <p:spPr bwMode="auto">
          <a:xfrm>
            <a:off x="4296231" y="0"/>
            <a:ext cx="7881257" cy="258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513943" y="3298371"/>
            <a:ext cx="786674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Impurities present in the supplied copper salt solution </a:t>
            </a:r>
            <a:r>
              <a:rPr lang="en-US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may </a:t>
            </a: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interfere with the liberation of iodine.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Inaccurate standardization of sodium </a:t>
            </a:r>
            <a:r>
              <a:rPr lang="en-US" dirty="0" err="1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thiosulphate</a:t>
            </a: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solution </a:t>
            </a: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directly affects the calculated copper content.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Parallax error may occur while reading the burette, which can cause slight variation in volume measurement.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Incomplete mixing of the solution during titration may result in uneven reaction and inaccurate end point detection.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Excess addition of ammonium hydroxide or acetic acid may disturb the reaction conditions, affecting the final result.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40287" y="2756292"/>
            <a:ext cx="78667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u="sng" dirty="0" smtClean="0"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POSSIBLE ERRORS:</a:t>
            </a:r>
            <a:endParaRPr lang="en-US" i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413273" y="6522313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11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tri Dish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389" y="636714"/>
            <a:ext cx="6019817" cy="106547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American international university-</a:t>
            </a:r>
            <a:r>
              <a:rPr lang="en-US" sz="24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bangladesh</a:t>
            </a:r>
            <a:endParaRPr lang="en-US" sz="24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21F85AB8-7AD2-4F3E-A75D-910A16D61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633" y="191161"/>
            <a:ext cx="1645920" cy="161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82699" y="2355011"/>
            <a:ext cx="8689976" cy="2509213"/>
          </a:xfrm>
        </p:spPr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ON BEHALF OF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GROUP-7</a:t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43966" y="4937782"/>
            <a:ext cx="483664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i="1" u="sng" dirty="0">
                <a:latin typeface="Arial Black" panose="020B0A04020102020204" pitchFamily="34" charset="0"/>
              </a:rPr>
              <a:t>THANK YOU</a:t>
            </a:r>
            <a:endParaRPr lang="en-US" sz="5400" b="1" i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15870" y="6492875"/>
            <a:ext cx="764215" cy="365125"/>
          </a:xfrm>
        </p:spPr>
        <p:txBody>
          <a:bodyPr/>
          <a:lstStyle/>
          <a:p>
            <a:fld id="{6D22F896-40B5-4ADD-8801-0D06FADFA095}" type="slidenum">
              <a:rPr lang="en-US" sz="1200" smtClean="0">
                <a:latin typeface="Arial Black" panose="020B0A04020102020204" pitchFamily="34" charset="0"/>
              </a:rPr>
              <a:t>12</a:t>
            </a:fld>
            <a:endParaRPr 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AB9843-8233-452C-82B9-ECE749792D29}">
  <ds:schemaRefs>
    <ds:schemaRef ds:uri="http://purl.org/dc/elements/1.1/"/>
    <ds:schemaRef ds:uri="http://schemas.openxmlformats.org/package/2006/metadata/core-properties"/>
    <ds:schemaRef ds:uri="16c05727-aa75-4e4a-9b5f-8a80a1165891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E586802-67BF-4B31-AFE3-2C42A416BA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783F2E-97E2-484E-BF92-B33AEA715C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Laboratory design</Template>
  <TotalTime>0</TotalTime>
  <Words>715</Words>
  <Application>Microsoft Office PowerPoint</Application>
  <PresentationFormat>Widescreen</PresentationFormat>
  <Paragraphs>176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Calibri</vt:lpstr>
      <vt:lpstr>Cambria Math</vt:lpstr>
      <vt:lpstr>Symbol</vt:lpstr>
      <vt:lpstr>Times New Roman</vt:lpstr>
      <vt:lpstr>Tw Cen MT</vt:lpstr>
      <vt:lpstr>Droplet</vt:lpstr>
      <vt:lpstr>Equation</vt:lpstr>
      <vt:lpstr>Chemistry-lab section: m    </vt:lpstr>
      <vt:lpstr>EXPERIMENT- 6</vt:lpstr>
      <vt:lpstr>APPARATUS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 BEHALF OF  GROUP-7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2025-12-27T20:19:46Z</dcterms:created>
  <dcterms:modified xsi:type="dcterms:W3CDTF">2025-12-30T14:27:15Z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